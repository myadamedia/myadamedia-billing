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9448495" cy="41148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645920"/>
            <a:ext cx="889985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000">
                <a:solidFill>
                  <a:srgbClr val="00E5FF"/>
                </a:solidFill>
              </a:defRPr>
            </a:pPr>
            <a:r>
              <a:t>MYADAMEDIA BILLING</a:t>
            </a:r>
          </a:p>
          <a:p>
            <a:pPr>
              <a:spcBef>
                <a:spcPts val="1000"/>
              </a:spcBef>
              <a:defRPr b="1" sz="2000">
                <a:solidFill>
                  <a:srgbClr val="FFFFFF"/>
                </a:solidFill>
              </a:defRPr>
            </a:pPr>
            <a:r>
              <a:t>All-in-One ISP Management &amp; Network Automation Platform</a:t>
            </a:r>
          </a:p>
          <a:p>
            <a:pPr>
              <a:spcBef>
                <a:spcPts val="1500"/>
              </a:spcBef>
              <a:defRPr i="1" sz="1600">
                <a:solidFill>
                  <a:srgbClr val="FFD166"/>
                </a:solidFill>
              </a:defRPr>
            </a:pPr>
            <a:r>
              <a:t>"Transforming Local ISPs &amp; RTRW Nets into Automated, High-Margin Businesses"</a:t>
            </a:r>
          </a:p>
          <a:p>
            <a:pPr>
              <a:spcBef>
                <a:spcPts val="2500"/>
              </a:spcBef>
              <a:defRPr sz="1300">
                <a:solidFill>
                  <a:srgbClr val="8D99AE"/>
                </a:solidFill>
              </a:defRPr>
            </a:pPr>
            <a:r>
              <a:t>Presenter: Management &amp; Technical Team MyAdamedia  |  Contact: admin@myadamedia.com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00E5FF"/>
                </a:solidFill>
              </a:rPr>
              <a:t>SLIDE 02  |  </a:t>
            </a:r>
            <a:r>
              <a:rPr b="1" sz="2200">
                <a:solidFill>
                  <a:srgbClr val="FFFFFF"/>
                </a:solidFill>
              </a:rPr>
              <a:t>PERMASALAHAN UTAMA PASAR (MARKET PAIN POINTS)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2103120"/>
          </a:xfrm>
          <a:prstGeom prst="roundRect">
            <a:avLst/>
          </a:prstGeom>
          <a:solidFill>
            <a:srgbClr val="1C2541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FFD166"/>
                </a:solidFill>
              </a:defRPr>
            </a:pPr>
            <a:r>
              <a:t>Billing &amp; Isolir Masih Manual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70%+ ISP lokal kehilangan 15–20% potensi pendapatan akibat keterlambatan isolir dan pencatatan tagihan di Excel / WhatsApp manual.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463040"/>
            <a:ext cx="5120640" cy="2103120"/>
          </a:xfrm>
          <a:prstGeom prst="roundRect">
            <a:avLst/>
          </a:prstGeom>
          <a:solidFill>
            <a:srgbClr val="1C2541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FFD166"/>
                </a:solidFill>
              </a:defRPr>
            </a:pPr>
            <a:r>
              <a:t>Fragmentasi Sistem &amp; Perangkat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Router MikroTik, OLT ZTE/Huawei, dan modem CPE diatur secara terpisah, membutuhkan waktu lama &amp; biaya OPEX staf tinggi.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5120640" cy="2103120"/>
          </a:xfrm>
          <a:prstGeom prst="roundRect">
            <a:avLst/>
          </a:prstGeom>
          <a:solidFill>
            <a:srgbClr val="1C2541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FFD166"/>
                </a:solidFill>
              </a:defRPr>
            </a:pPr>
            <a:r>
              <a:t>Buta Peta Jalur Lapangan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Kabel fiber optic &amp; ODP tidak terpetakan secara digital, memperlambat lokalisasi kabel putus dan penanganan gangguan.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3840480"/>
            <a:ext cx="5120640" cy="2103120"/>
          </a:xfrm>
          <a:prstGeom prst="roundRect">
            <a:avLst/>
          </a:prstGeom>
          <a:solidFill>
            <a:srgbClr val="1C2541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FFD166"/>
                </a:solidFill>
              </a:defRPr>
            </a:pPr>
            <a:r>
              <a:t>Tingginya OPEX Operasional Staf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Belum tersedianya portal mandiri untuk pelanggan, teknisi, &amp; agen voucher membuat beban gaji karyawan membengkak.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00E5FF"/>
                </a:solidFill>
              </a:rPr>
              <a:t>SLIDE 03  |  </a:t>
            </a:r>
            <a:r>
              <a:rPr b="1" sz="2200">
                <a:solidFill>
                  <a:srgbClr val="FFFFFF"/>
                </a:solidFill>
              </a:rPr>
              <a:t>SOLUSI TERPADU — PLATFORM MYADAMEDIA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2103120"/>
          </a:xfrm>
          <a:prstGeom prst="roundRect">
            <a:avLst/>
          </a:prstGeom>
          <a:solidFill>
            <a:srgbClr val="1C2541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00E5FF"/>
                </a:solidFill>
              </a:defRPr>
            </a:pPr>
            <a:r>
              <a:t>Otomatisasi Billing &amp; QRIS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Integrasi QRIS Webhook instan. Tagihan dibayar, sistem otomatis mengubah status lunas &amp; buka isolir MikroTik seketika.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463040"/>
            <a:ext cx="5120640" cy="2103120"/>
          </a:xfrm>
          <a:prstGeom prst="roundRect">
            <a:avLst/>
          </a:prstGeom>
          <a:solidFill>
            <a:srgbClr val="1C2541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00E5FF"/>
                </a:solidFill>
              </a:defRPr>
            </a:pPr>
            <a:r>
              <a:t>Multi-Vendor Network Provisioning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Mengontrol RouterOS MikroTik v6/v7 API, OLT PON via SNMP/Telnet, &amp; TR-069 GenieACS CPE dalam satu dashboard.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5120640" cy="2103120"/>
          </a:xfrm>
          <a:prstGeom prst="roundRect">
            <a:avLst/>
          </a:prstGeom>
          <a:solidFill>
            <a:srgbClr val="1C2541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00E5FF"/>
                </a:solidFill>
              </a:defRPr>
            </a:pPr>
            <a:r>
              <a:t>Peta GIS Fiber &amp; ODP Live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Visualisasi Leaflet Satelit hybrid untuk lokasi pelanggan, titik ODP, &amp; polyline rute kabel fiber optic.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3840480"/>
            <a:ext cx="5120640" cy="2103120"/>
          </a:xfrm>
          <a:prstGeom prst="roundRect">
            <a:avLst/>
          </a:prstGeom>
          <a:solidFill>
            <a:srgbClr val="1C2541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00E5FF"/>
                </a:solidFill>
              </a:defRPr>
            </a:pPr>
            <a:r>
              <a:t>Ekosistem 6 Multi-Portal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Portal khusus Admin, Pelanggan Self-Service, Teknisi (GPS Ticket), Agen Voucher, Kolektor, &amp; Investor.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00E5FF"/>
                </a:solidFill>
              </a:rPr>
              <a:t>SLIDE 04  |  </a:t>
            </a:r>
            <a:r>
              <a:rPr b="1" sz="2200">
                <a:solidFill>
                  <a:srgbClr val="FFFFFF"/>
                </a:solidFill>
              </a:rPr>
              <a:t>TRAKSI &amp; KINERJA OPERASIONAL AKTUAL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2103120"/>
          </a:xfrm>
          <a:prstGeom prst="roundRect">
            <a:avLst/>
          </a:prstGeom>
          <a:solidFill>
            <a:srgbClr val="1C2541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800">
                <a:solidFill>
                  <a:srgbClr val="00E5FF"/>
                </a:solidFill>
              </a:defRPr>
            </a:pPr>
            <a:r>
              <a:t>80 Pelanggan</a:t>
            </a:r>
          </a:p>
          <a:p>
            <a:pPr>
              <a:spcBef>
                <a:spcPts val="1000"/>
              </a:spcBef>
              <a:defRPr sz="1400">
                <a:solidFill>
                  <a:srgbClr val="FFFFFF"/>
                </a:solidFill>
              </a:defRPr>
            </a:pPr>
            <a:r>
              <a:t>Pelanggan Membayar Aktif</a:t>
            </a:r>
            <a:br/>
            <a:r>
              <a:t>(98,7% Active Rate)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463040"/>
            <a:ext cx="5120640" cy="2103120"/>
          </a:xfrm>
          <a:prstGeom prst="roundRect">
            <a:avLst/>
          </a:prstGeom>
          <a:solidFill>
            <a:srgbClr val="1C2541"/>
          </a:solidFill>
          <a:ln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800">
                <a:solidFill>
                  <a:srgbClr val="FFD166"/>
                </a:solidFill>
              </a:defRPr>
            </a:pPr>
            <a:r>
              <a:t>Rp 12.895.000</a:t>
            </a:r>
          </a:p>
          <a:p>
            <a:pPr>
              <a:spcBef>
                <a:spcPts val="1000"/>
              </a:spcBef>
              <a:defRPr sz="1400">
                <a:solidFill>
                  <a:srgbClr val="FFFFFF"/>
                </a:solidFill>
              </a:defRPr>
            </a:pPr>
            <a:r>
              <a:t>Monthly Recurring Revenue</a:t>
            </a:r>
            <a:br/>
            <a:r>
              <a:t>(MRR Eksisting / Bulan)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5120640" cy="2103120"/>
          </a:xfrm>
          <a:prstGeom prst="roundRect">
            <a:avLst/>
          </a:prstGeom>
          <a:solidFill>
            <a:srgbClr val="1C2541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800">
                <a:solidFill>
                  <a:srgbClr val="00E5FF"/>
                </a:solidFill>
              </a:defRPr>
            </a:pPr>
            <a:r>
              <a:t>Rp 154.740.000</a:t>
            </a:r>
          </a:p>
          <a:p>
            <a:pPr>
              <a:spcBef>
                <a:spcPts val="1000"/>
              </a:spcBef>
              <a:defRPr sz="1400">
                <a:solidFill>
                  <a:srgbClr val="FFFFFF"/>
                </a:solidFill>
              </a:defRPr>
            </a:pPr>
            <a:r>
              <a:t>Annualized Recurring Revenue</a:t>
            </a:r>
            <a:br/>
            <a:r>
              <a:t>(ARR Eksisting / Tahun)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3840480"/>
            <a:ext cx="5120640" cy="2103120"/>
          </a:xfrm>
          <a:prstGeom prst="roundRect">
            <a:avLst/>
          </a:prstGeom>
          <a:solidFill>
            <a:srgbClr val="1C254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800">
                <a:solidFill>
                  <a:srgbClr val="FFFFFF"/>
                </a:solidFill>
              </a:defRPr>
            </a:pPr>
            <a:r>
              <a:t>100% Fully Automation</a:t>
            </a:r>
          </a:p>
          <a:p>
            <a:pPr>
              <a:spcBef>
                <a:spcPts val="1000"/>
              </a:spcBef>
              <a:defRPr sz="1400">
                <a:solidFill>
                  <a:srgbClr val="FFFFFF"/>
                </a:solidFill>
              </a:defRPr>
            </a:pPr>
            <a:r>
              <a:t>QRIS Auto-Release &amp; Automatic</a:t>
            </a:r>
            <a:br/>
            <a:r>
              <a:t>Isolir MikroTik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00E5FF"/>
                </a:solidFill>
              </a:rPr>
              <a:t>SLIDE 05  |  </a:t>
            </a:r>
            <a:r>
              <a:rPr b="1" sz="2200">
                <a:solidFill>
                  <a:srgbClr val="FFFFFF"/>
                </a:solidFill>
              </a:rPr>
              <a:t>ANATOMI REVENUE &amp; STRUKTUR PAKET PELANGGAN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728655" cy="1005840"/>
          </a:xfrm>
          <a:prstGeom prst="roundRect">
            <a:avLst/>
          </a:prstGeom>
          <a:solidFill>
            <a:srgbClr val="1C2541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Paket LITE  —  Harga: Rp 150.000 / bln  |  Jumlah: 68 Pelanggan  |  Pendapatan: Rp 10.200.000 / bln (79,1%)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51760"/>
            <a:ext cx="10728655" cy="1005840"/>
          </a:xfrm>
          <a:prstGeom prst="roundRect">
            <a:avLst/>
          </a:prstGeom>
          <a:solidFill>
            <a:srgbClr val="1C2541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Paket BASIC  —  Harga: Rp 250.000 / bln  |  Jumlah: 7 Pelanggan  |  Pendapatan: Rp 1.750.000 / bln (13,6%)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10728655" cy="1005840"/>
          </a:xfrm>
          <a:prstGeom prst="roundRect">
            <a:avLst/>
          </a:prstGeom>
          <a:solidFill>
            <a:srgbClr val="1C2541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Paket BASIC A  —  Harga: Rp 250.000 / bln  |  Jumlah: 3 Pelanggan  |  Pendapatan: Rp 750.000 / bln (5,8%)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029200"/>
            <a:ext cx="10728655" cy="1005840"/>
          </a:xfrm>
          <a:prstGeom prst="roundRect">
            <a:avLst/>
          </a:prstGeom>
          <a:solidFill>
            <a:srgbClr val="1C2541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Paket STARTER A &amp; B  —  Harga: Rp 115.000 / bln  |  Jumlah: 3 Pelanggan  |  Pendapatan: Rp 345.000 / bln (1,5%)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00E5FF"/>
                </a:solidFill>
              </a:rPr>
              <a:t>SLIDE 06  |  </a:t>
            </a:r>
            <a:r>
              <a:rPr b="1" sz="2200">
                <a:solidFill>
                  <a:srgbClr val="FFFFFF"/>
                </a:solidFill>
              </a:rPr>
              <a:t>ARSITEKTUR KODE &amp; KUALITAS TEKNOLOGI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2103120"/>
          </a:xfrm>
          <a:prstGeom prst="roundRect">
            <a:avLst/>
          </a:prstGeom>
          <a:solidFill>
            <a:srgbClr val="1C2541"/>
          </a:solidFill>
          <a:ln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FFD166"/>
                </a:solidFill>
              </a:defRPr>
            </a:pPr>
            <a:r>
              <a:t>Backend &amp; Architecture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Node.js v20+, Express.js, Clean Architecture, Repository Pattern, High Modular Design.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463040"/>
            <a:ext cx="5120640" cy="2103120"/>
          </a:xfrm>
          <a:prstGeom prst="roundRect">
            <a:avLst/>
          </a:prstGeom>
          <a:solidFill>
            <a:srgbClr val="1C2541"/>
          </a:solidFill>
          <a:ln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FFD166"/>
                </a:solidFill>
              </a:defRPr>
            </a:pPr>
            <a:r>
              <a:t>Database &amp; Security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SQLite (`better-sqlite3`), Encrypted Settings, Helmet Security Headers, Rate Limiting, Audit Logging.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5120640" cy="2103120"/>
          </a:xfrm>
          <a:prstGeom prst="roundRect">
            <a:avLst/>
          </a:prstGeom>
          <a:solidFill>
            <a:srgbClr val="1C2541"/>
          </a:solidFill>
          <a:ln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FFD166"/>
                </a:solidFill>
              </a:defRPr>
            </a:pPr>
            <a:r>
              <a:t>Integration Engine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MikroTik ROS v6/v7 Client, SNMP OLT ZTE/Huawei Engine, TR-069 ACS Server, Baileys WA Bot.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3840480"/>
            <a:ext cx="5120640" cy="2103120"/>
          </a:xfrm>
          <a:prstGeom prst="roundRect">
            <a:avLst/>
          </a:prstGeom>
          <a:solidFill>
            <a:srgbClr val="1C2541"/>
          </a:solidFill>
          <a:ln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FFD166"/>
                </a:solidFill>
              </a:defRPr>
            </a:pPr>
            <a:r>
              <a:t>Production Reliability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Jest Unit Test Suite (100% coverage pada modul kritis), Auto Daily Encrypted DB Backup.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00E5FF"/>
                </a:solidFill>
              </a:rPr>
              <a:t>SLIDE 07  |  </a:t>
            </a:r>
            <a:r>
              <a:rPr b="1" sz="2200">
                <a:solidFill>
                  <a:srgbClr val="FFFFFF"/>
                </a:solidFill>
              </a:rPr>
              <a:t>UKURAN PASAR &amp; POTENSI BERSKALA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114800"/>
          </a:xfrm>
          <a:prstGeom prst="roundRect">
            <a:avLst/>
          </a:prstGeom>
          <a:solidFill>
            <a:srgbClr val="1C2541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00E5FF"/>
                </a:solidFill>
              </a:defRPr>
            </a:pPr>
            <a:r>
              <a:t>TAM (Total Addressable Market)</a:t>
            </a:r>
          </a:p>
          <a:p>
            <a:pPr>
              <a:spcBef>
                <a:spcPts val="2000"/>
              </a:spcBef>
              <a:defRPr b="1" sz="3600">
                <a:solidFill>
                  <a:srgbClr val="FFD166"/>
                </a:solidFill>
              </a:defRPr>
            </a:pPr>
            <a:r>
              <a:t>12.000+</a:t>
            </a:r>
          </a:p>
          <a:p>
            <a:pPr>
              <a:spcBef>
                <a:spcPts val="1500"/>
              </a:spcBef>
              <a:defRPr sz="1300">
                <a:solidFill>
                  <a:srgbClr val="FFFFFF"/>
                </a:solidFill>
              </a:defRPr>
            </a:pPr>
            <a:r>
              <a:t>Pengelola RTRW Net &amp; ISP Lokal di Indonesia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645920"/>
            <a:ext cx="3383280" cy="4114800"/>
          </a:xfrm>
          <a:prstGeom prst="roundRect">
            <a:avLst/>
          </a:prstGeom>
          <a:solidFill>
            <a:srgbClr val="1C2541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00E5FF"/>
                </a:solidFill>
              </a:defRPr>
            </a:pPr>
            <a:r>
              <a:t>SAM (Serviceable Addressable)</a:t>
            </a:r>
          </a:p>
          <a:p>
            <a:pPr>
              <a:spcBef>
                <a:spcPts val="2000"/>
              </a:spcBef>
              <a:defRPr b="1" sz="3600">
                <a:solidFill>
                  <a:srgbClr val="FFD166"/>
                </a:solidFill>
              </a:defRPr>
            </a:pPr>
            <a:r>
              <a:t>3.500+</a:t>
            </a:r>
          </a:p>
          <a:p>
            <a:pPr>
              <a:spcBef>
                <a:spcPts val="1500"/>
              </a:spcBef>
              <a:defRPr sz="1300">
                <a:solidFill>
                  <a:srgbClr val="FFFFFF"/>
                </a:solidFill>
              </a:defRPr>
            </a:pPr>
            <a:r>
              <a:t>ISP/RTRW Net di Pulau Jawa &amp; Sumatera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645920"/>
            <a:ext cx="3383280" cy="4114800"/>
          </a:xfrm>
          <a:prstGeom prst="roundRect">
            <a:avLst/>
          </a:prstGeom>
          <a:solidFill>
            <a:srgbClr val="1C2541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00E5FF"/>
                </a:solidFill>
              </a:defRPr>
            </a:pPr>
            <a:r>
              <a:t>SOM Target (24 Bulan)</a:t>
            </a:r>
          </a:p>
          <a:p>
            <a:pPr>
              <a:spcBef>
                <a:spcPts val="2000"/>
              </a:spcBef>
              <a:defRPr b="1" sz="3600">
                <a:solidFill>
                  <a:srgbClr val="FFD166"/>
                </a:solidFill>
              </a:defRPr>
            </a:pPr>
            <a:r>
              <a:t>250+</a:t>
            </a:r>
          </a:p>
          <a:p>
            <a:pPr>
              <a:spcBef>
                <a:spcPts val="1500"/>
              </a:spcBef>
              <a:defRPr sz="1300">
                <a:solidFill>
                  <a:srgbClr val="FFFFFF"/>
                </a:solidFill>
              </a:defRPr>
            </a:pPr>
            <a:r>
              <a:t>Mitra ISP Terhubung Platform (SaaS MRR &gt; Rp 100M)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00E5FF"/>
                </a:solidFill>
              </a:rPr>
              <a:t>SLIDE 08  |  </a:t>
            </a:r>
            <a:r>
              <a:rPr b="1" sz="2200">
                <a:solidFill>
                  <a:srgbClr val="FFFFFF"/>
                </a:solidFill>
              </a:rPr>
              <a:t>MODEL BISNIS &amp; SUMBER PENDAPATAN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1280160"/>
          </a:xfrm>
          <a:prstGeom prst="roundRect">
            <a:avLst/>
          </a:prstGeom>
          <a:solidFill>
            <a:srgbClr val="1C2541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FFD166"/>
                </a:solidFill>
              </a:defRPr>
            </a:pPr>
            <a:r>
              <a:t>Direct ISP Subscription (B2C)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Penjualan paket internet broadband bulanan langsung ke rumah tangga.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00400"/>
            <a:ext cx="10728655" cy="1280160"/>
          </a:xfrm>
          <a:prstGeom prst="roundRect">
            <a:avLst/>
          </a:prstGeom>
          <a:solidFill>
            <a:srgbClr val="1C2541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FFD166"/>
                </a:solidFill>
              </a:defRPr>
            </a:pPr>
            <a:r>
              <a:t>SaaS Licensing for ISPs (B2B)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Model berlangganan software per ISP per bulan (Tiering Basic, Pro, Enterprise).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754880"/>
            <a:ext cx="10728655" cy="1280160"/>
          </a:xfrm>
          <a:prstGeom prst="roundRect">
            <a:avLst/>
          </a:prstGeom>
          <a:solidFill>
            <a:srgbClr val="1C2541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FFD166"/>
                </a:solidFill>
              </a:defRPr>
            </a:pPr>
            <a:r>
              <a:t>Hotspot Voucher Revenue Share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Komisi transaksi pembelian voucher hotspot publik via agen &amp; QRIS mandiri.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00E5FF"/>
                </a:solidFill>
              </a:rPr>
              <a:t>SLIDE 09  |  </a:t>
            </a:r>
            <a:r>
              <a:rPr b="1" sz="2200">
                <a:solidFill>
                  <a:srgbClr val="FFFFFF"/>
                </a:solidFill>
              </a:rPr>
              <a:t>KEBUTUHAN PENDANAAN &amp; ALOKASI DANA (RP 20 JUTA)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1280160"/>
          </a:xfrm>
          <a:prstGeom prst="roundRect">
            <a:avLst/>
          </a:prstGeom>
          <a:solidFill>
            <a:srgbClr val="1C2541"/>
          </a:solidFill>
          <a:ln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0E5FF"/>
                </a:solidFill>
              </a:defRPr>
            </a:pPr>
            <a:r>
              <a:t>45%  |  Rp 9.000.000   —   Hardware Expansion &amp; Fiber Optic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</a:defRPr>
            </a:pPr>
            <a:r>
              <a:t>Pembelian OLT Splitter, Fiber Optic Core Cable, Enclosure Box, &amp; Node ODP Baru.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00400"/>
            <a:ext cx="10728655" cy="1280160"/>
          </a:xfrm>
          <a:prstGeom prst="roundRect">
            <a:avLst/>
          </a:prstGeom>
          <a:solidFill>
            <a:srgbClr val="1C2541"/>
          </a:solidFill>
          <a:ln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0E5FF"/>
                </a:solidFill>
              </a:defRPr>
            </a:pPr>
            <a:r>
              <a:t>30%  |  Rp 6.000.000   —   Marketing &amp; Penetrasi Pasar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</a:defRPr>
            </a:pPr>
            <a:r>
              <a:t>Digital Advertising, Spanduk, Banner Lokal, &amp; Program Blast Pengenalan Layanan.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754880"/>
            <a:ext cx="10728655" cy="1280160"/>
          </a:xfrm>
          <a:prstGeom prst="roundRect">
            <a:avLst/>
          </a:prstGeom>
          <a:solidFill>
            <a:srgbClr val="1C2541"/>
          </a:solidFill>
          <a:ln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0E5FF"/>
                </a:solidFill>
              </a:defRPr>
            </a:pPr>
            <a:r>
              <a:t>25%  |  Rp 5.000.000   —   Server SSL, Cloud &amp; OPEX Reserve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</a:defRPr>
            </a:pPr>
            <a:r>
              <a:t>Upgrade Server High Availability, Domain SSL, WhatsApp Official Gateway, &amp; Cadangan OPEX.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00E5FF"/>
                </a:solidFill>
              </a:rPr>
              <a:t>SLIDE 10  |  </a:t>
            </a:r>
            <a:r>
              <a:rPr b="1" sz="2200">
                <a:solidFill>
                  <a:srgbClr val="FFFFFF"/>
                </a:solidFill>
              </a:rPr>
              <a:t>PROYEKSI PERTUMBUHAN KEUANGAN 3 TAHUN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114800"/>
          </a:xfrm>
          <a:prstGeom prst="roundRect">
            <a:avLst/>
          </a:prstGeom>
          <a:solidFill>
            <a:srgbClr val="1C2541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FFD166"/>
                </a:solidFill>
              </a:defRPr>
            </a:pPr>
            <a:r>
              <a:t>Tahun 1 (Target)</a:t>
            </a:r>
          </a:p>
          <a:p>
            <a:pPr>
              <a:spcBef>
                <a:spcPts val="1500"/>
              </a:spcBef>
              <a:defRPr b="1" sz="2200">
                <a:solidFill>
                  <a:srgbClr val="FFFFFF"/>
                </a:solidFill>
              </a:defRPr>
            </a:pPr>
            <a:r>
              <a:t>180 Pelanggan</a:t>
            </a:r>
          </a:p>
          <a:p>
            <a:pPr>
              <a:spcBef>
                <a:spcPts val="1000"/>
              </a:spcBef>
              <a:defRPr b="1" sz="1800">
                <a:solidFill>
                  <a:srgbClr val="00E5FF"/>
                </a:solidFill>
              </a:defRPr>
            </a:pPr>
            <a:r>
              <a:t>MRR Rp 28.800.000</a:t>
            </a:r>
          </a:p>
          <a:p>
            <a:pPr>
              <a:spcBef>
                <a:spcPts val="1000"/>
              </a:spcBef>
              <a:defRPr sz="1400">
                <a:solidFill>
                  <a:srgbClr val="8D99AE"/>
                </a:solidFill>
              </a:defRPr>
            </a:pPr>
            <a:r>
              <a:t>Gross ARR Rp 345,6 Juta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645920"/>
            <a:ext cx="3383280" cy="4114800"/>
          </a:xfrm>
          <a:prstGeom prst="roundRect">
            <a:avLst/>
          </a:prstGeom>
          <a:solidFill>
            <a:srgbClr val="1C2541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FFD166"/>
                </a:solidFill>
              </a:defRPr>
            </a:pPr>
            <a:r>
              <a:t>Tahun 2 (Target)</a:t>
            </a:r>
          </a:p>
          <a:p>
            <a:pPr>
              <a:spcBef>
                <a:spcPts val="1500"/>
              </a:spcBef>
              <a:defRPr b="1" sz="2200">
                <a:solidFill>
                  <a:srgbClr val="FFFFFF"/>
                </a:solidFill>
              </a:defRPr>
            </a:pPr>
            <a:r>
              <a:t>380 Pelanggan</a:t>
            </a:r>
          </a:p>
          <a:p>
            <a:pPr>
              <a:spcBef>
                <a:spcPts val="1000"/>
              </a:spcBef>
              <a:defRPr b="1" sz="1800">
                <a:solidFill>
                  <a:srgbClr val="00E5FF"/>
                </a:solidFill>
              </a:defRPr>
            </a:pPr>
            <a:r>
              <a:t>MRR Rp 60.800.000</a:t>
            </a:r>
          </a:p>
          <a:p>
            <a:pPr>
              <a:spcBef>
                <a:spcPts val="1000"/>
              </a:spcBef>
              <a:defRPr sz="1400">
                <a:solidFill>
                  <a:srgbClr val="8D99AE"/>
                </a:solidFill>
              </a:defRPr>
            </a:pPr>
            <a:r>
              <a:t>Gross ARR Rp 729,6 Juta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645920"/>
            <a:ext cx="3383280" cy="4114800"/>
          </a:xfrm>
          <a:prstGeom prst="roundRect">
            <a:avLst/>
          </a:prstGeom>
          <a:solidFill>
            <a:srgbClr val="1C2541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FFD166"/>
                </a:solidFill>
              </a:defRPr>
            </a:pPr>
            <a:r>
              <a:t>Tahun 3 (Target)</a:t>
            </a:r>
          </a:p>
          <a:p>
            <a:pPr>
              <a:spcBef>
                <a:spcPts val="1500"/>
              </a:spcBef>
              <a:defRPr b="1" sz="2200">
                <a:solidFill>
                  <a:srgbClr val="FFFFFF"/>
                </a:solidFill>
              </a:defRPr>
            </a:pPr>
            <a:r>
              <a:t>750 Pelanggan</a:t>
            </a:r>
          </a:p>
          <a:p>
            <a:pPr>
              <a:spcBef>
                <a:spcPts val="1000"/>
              </a:spcBef>
              <a:defRPr b="1" sz="1800">
                <a:solidFill>
                  <a:srgbClr val="00E5FF"/>
                </a:solidFill>
              </a:defRPr>
            </a:pPr>
            <a:r>
              <a:t>MRR Rp 123.750.000</a:t>
            </a:r>
          </a:p>
          <a:p>
            <a:pPr>
              <a:spcBef>
                <a:spcPts val="1000"/>
              </a:spcBef>
              <a:defRPr sz="1400">
                <a:solidFill>
                  <a:srgbClr val="8D99AE"/>
                </a:solidFill>
              </a:defRPr>
            </a:pPr>
            <a:r>
              <a:t>Gross ARR Rp 1,48 Miliar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00E5FF"/>
                </a:solidFill>
              </a:rPr>
              <a:t>SLIDE 11  |  </a:t>
            </a:r>
            <a:r>
              <a:rPr b="1" sz="2200">
                <a:solidFill>
                  <a:srgbClr val="FFFFFF"/>
                </a:solidFill>
              </a:rPr>
              <a:t>ESTIMASI ROI &amp; PENAWARAN INVESTOR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114800"/>
          </a:xfrm>
          <a:prstGeom prst="roundRect">
            <a:avLst/>
          </a:prstGeom>
          <a:solidFill>
            <a:srgbClr val="1C2541"/>
          </a:solidFill>
          <a:ln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200">
                <a:solidFill>
                  <a:srgbClr val="FFD166"/>
                </a:solidFill>
              </a:defRPr>
            </a:pPr>
            <a:r>
              <a:t>12% Profit Share</a:t>
            </a:r>
          </a:p>
          <a:p>
            <a:pPr>
              <a:spcBef>
                <a:spcPts val="2000"/>
              </a:spcBef>
              <a:defRPr sz="1400">
                <a:solidFill>
                  <a:srgbClr val="FFFFFF"/>
                </a:solidFill>
              </a:defRPr>
            </a:pPr>
            <a:r>
              <a:t>Skema Bagi Hasil Bulanan dari Net Profit Bersih Bisnis.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645920"/>
            <a:ext cx="3383280" cy="4114800"/>
          </a:xfrm>
          <a:prstGeom prst="roundRect">
            <a:avLst/>
          </a:prstGeom>
          <a:solidFill>
            <a:srgbClr val="1C2541"/>
          </a:solidFill>
          <a:ln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200">
                <a:solidFill>
                  <a:srgbClr val="FFD166"/>
                </a:solidFill>
              </a:defRPr>
            </a:pPr>
            <a:r>
              <a:t>5 – 7 Bulan</a:t>
            </a:r>
          </a:p>
          <a:p>
            <a:pPr>
              <a:spcBef>
                <a:spcPts val="2000"/>
              </a:spcBef>
              <a:defRPr sz="1400">
                <a:solidFill>
                  <a:srgbClr val="FFFFFF"/>
                </a:solidFill>
              </a:defRPr>
            </a:pPr>
            <a:r>
              <a:t>Estimasi Masa Impas Modal (Payback Period) yang Sangat Cepat.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645920"/>
            <a:ext cx="3383280" cy="4114800"/>
          </a:xfrm>
          <a:prstGeom prst="roundRect">
            <a:avLst/>
          </a:prstGeom>
          <a:solidFill>
            <a:srgbClr val="1C2541"/>
          </a:solidFill>
          <a:ln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200">
                <a:solidFill>
                  <a:srgbClr val="FFD166"/>
                </a:solidFill>
              </a:defRPr>
            </a:pPr>
            <a:r>
              <a:t>207% Net ROI</a:t>
            </a:r>
          </a:p>
          <a:p>
            <a:pPr>
              <a:spcBef>
                <a:spcPts val="2000"/>
              </a:spcBef>
              <a:defRPr sz="1400">
                <a:solidFill>
                  <a:srgbClr val="FFFFFF"/>
                </a:solidFill>
              </a:defRPr>
            </a:pPr>
            <a:r>
              <a:t>Total Est. Pengembalian 24 Bulan: Rp 41.472.000 (Modal Rp 20 Juta).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9448495" cy="41148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645920"/>
            <a:ext cx="889985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200">
                <a:solidFill>
                  <a:srgbClr val="00E5FF"/>
                </a:solidFill>
              </a:defRPr>
            </a:pPr>
            <a:r>
              <a:t>Mari Bergabung Sebagai Mitra Strategis Kami!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Bersama-sama Menguasai Pasar ISP Lokal &amp; Digitalisasi Jaringan Komunitas</a:t>
            </a:r>
          </a:p>
          <a:p>
            <a:pPr>
              <a:spcBef>
                <a:spcPts val="2000"/>
              </a:spcBef>
              <a:defRPr b="1" sz="1400">
                <a:solidFill>
                  <a:srgbClr val="FFD166"/>
                </a:solidFill>
              </a:defRPr>
            </a:pPr>
            <a:r>
              <a:t>Langkah Selanjutnya: Demo Platform Live  ➔  Penandatanganan Perjanjian  ➔  Eksekusi Ekspansi</a:t>
            </a:r>
          </a:p>
          <a:p>
            <a:pPr>
              <a:spcBef>
                <a:spcPts val="2000"/>
              </a:spcBef>
              <a:defRPr sz="1300">
                <a:solidFill>
                  <a:srgbClr val="8D99AE"/>
                </a:solidFill>
              </a:defRPr>
            </a:pPr>
            <a:r>
              <a:t>Management &amp; Technical Team MyAdamedia</a:t>
            </a:r>
            <a:br/>
            <a:r>
              <a:t>Email: admin@myadamedia.com  |  Portal: https://myadamedia.com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